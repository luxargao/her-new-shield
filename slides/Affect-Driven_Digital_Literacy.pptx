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Today I present a research-in-progress study on how Chinese women develop technological competence through AI romance — a phenomenon we call affect-driven digital literacy.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vignette on the right: a user repairing her AI boyfriend's 'character collapse'. Emotional care and technical troubleshooting happen in the same gesture — that entanglement is our object of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established lines: relationship construction shows what users do; platform power shows what constrains them. Both describe practice intensively, but neither asks what users come to KNOW and to be ABLE TO DO — competence formation is the blind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literacy literature gives us competency lists but assumes deliberate, instrumental learning. Nobody theorizes skills people acquire BECAUSE they love someone — or something. That is gap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two comes from gender divide research: decades of deficit framing, little on competence gained through everyday practice. Our conceptual move: affect-driven digital literacy — read the definition slowly, it carries the whole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qualitative RQs answered by platform analysis; five hypotheses tested by survey. Note H5 — community participation as moderator — which links the individual learning story back to the community of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Feminist critical literacy tells us WHOSE practice counts; self-efficacy theory tells us HOW confidence grows from mastery; communities of practice tells us WHERE knowledge circulates. Their intersection is our construct.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ascending levels, from conversational tuning to system-level operations. This gradient came from the platform data first and was then turned into our self-developed ADTLB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phases from theory to integration. The two studies run in parallel and answer complementary questions — relationships between variables, and the texture of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1: 150 Xiaohongshu posts, thematic analysis by two independent coders, focused specifically on where technical and emotional themes co-occur within the same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serial mediation model: use intensity builds attachment, attachment motivates learning, learning builds self-efficacy. The focal indirect path is the full chain. Community participation moderates the last link — dashed 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variables: two adapted from classic measures — Dibble's parasocial relationship scale and Compeau &amp; Higgins' computer self-efficacy — plus our self-developed ADTLB scale. Pilot alphas are acceptable for a first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RQ1: competence is situational — learning happens in service of the relationship. Coding frequencies decline from L1 to L5, exactly the shape you'd expect from a progressive skill gradient. Higher-attachment users showed stronger learning across all five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RQ2: the two registers are inseparable in the data. A post about 'how he finally remembered our anniversary' is simultaneously a memory-configuration tutorial. That hybridity is the empirical face of affect-driven digital literacy.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gives us the first quantitative signal: r = .354, p &lt; .001, between use intensity and ADTLB. Mechanism tests await the full sample, but direction is consistent with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contributions. The theoretical one is central: literacy can be born from love. Empirically, we replace deficit narratives with an account of women's agency. Methodologically, mixed methods let numbers and narratives check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acknowledging limitations honestly, then invite questions — particularly on ADTLB scale validation and the H5 moderation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6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3.png"/><Relationship Id="rId3" Type="http://schemas.openxmlformats.org/officeDocument/2006/relationships/tags" Target="../tags/tag13.xml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12.xml"/><Relationship Id="rId19" Type="http://schemas.openxmlformats.org/officeDocument/2006/relationships/tags" Target="../tags/tag26.xml"/><Relationship Id="rId18" Type="http://schemas.openxmlformats.org/officeDocument/2006/relationships/image" Target="../media/image16.png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15.png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image" Target="../media/image17.png"/><Relationship Id="rId37" Type="http://schemas.openxmlformats.org/officeDocument/2006/relationships/notesSlide" Target="../notesSlides/notesSlide8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tags" Target="../tags/tag56.xml"/><Relationship Id="rId32" Type="http://schemas.openxmlformats.org/officeDocument/2006/relationships/image" Target="../media/image20.png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31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tags" Target="../tags/tag50.xml"/><Relationship Id="rId25" Type="http://schemas.openxmlformats.org/officeDocument/2006/relationships/image" Target="../media/image7.png"/><Relationship Id="rId24" Type="http://schemas.openxmlformats.org/officeDocument/2006/relationships/tags" Target="../tags/tag49.xml"/><Relationship Id="rId23" Type="http://schemas.openxmlformats.org/officeDocument/2006/relationships/tags" Target="../tags/tag48.xml"/><Relationship Id="rId22" Type="http://schemas.openxmlformats.org/officeDocument/2006/relationships/tags" Target="../tags/tag47.xml"/><Relationship Id="rId21" Type="http://schemas.openxmlformats.org/officeDocument/2006/relationships/tags" Target="../tags/tag46.xml"/><Relationship Id="rId20" Type="http://schemas.openxmlformats.org/officeDocument/2006/relationships/tags" Target="../tags/tag45.xml"/><Relationship Id="rId2" Type="http://schemas.openxmlformats.org/officeDocument/2006/relationships/tags" Target="../tags/tag30.xml"/><Relationship Id="rId19" Type="http://schemas.openxmlformats.org/officeDocument/2006/relationships/tags" Target="../tags/tag44.xml"/><Relationship Id="rId18" Type="http://schemas.openxmlformats.org/officeDocument/2006/relationships/image" Target="../media/image19.png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image" Target="../media/image18.png"/><Relationship Id="rId10" Type="http://schemas.openxmlformats.org/officeDocument/2006/relationships/tags" Target="../tags/tag37.xml"/><Relationship Id="rId1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image" Target="../media/image16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15.png"/><Relationship Id="rId2" Type="http://schemas.openxmlformats.org/officeDocument/2006/relationships/tags" Target="../tags/tag73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80.xml"/><Relationship Id="rId11" Type="http://schemas.openxmlformats.org/officeDocument/2006/relationships/image" Target="../media/image21.png"/><Relationship Id="rId10" Type="http://schemas.openxmlformats.org/officeDocument/2006/relationships/tags" Target="../tags/tag79.xml"/><Relationship Id="rId1" Type="http://schemas.openxmlformats.org/officeDocument/2006/relationships/tags" Target="../tags/tag7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image" Target="../media/image12.png"/><Relationship Id="rId3" Type="http://schemas.openxmlformats.org/officeDocument/2006/relationships/tags" Target="../tags/tag83.xml"/><Relationship Id="rId20" Type="http://schemas.openxmlformats.org/officeDocument/2006/relationships/notesSlide" Target="../notesSlides/notesSlide16.xml"/><Relationship Id="rId2" Type="http://schemas.openxmlformats.org/officeDocument/2006/relationships/tags" Target="../tags/tag8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image" Target="../media/image24.png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image" Target="../media/image3.png"/><Relationship Id="rId1" Type="http://schemas.openxmlformats.org/officeDocument/2006/relationships/tags" Target="../tags/tag8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645920"/>
            <a:ext cx="4937760" cy="4937760"/>
          </a:xfrm>
          <a:prstGeom prst="ellipse">
            <a:avLst/>
          </a:prstGeom>
          <a:solidFill>
            <a:srgbClr val="A26769">
              <a:alpha val="2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754880"/>
            <a:ext cx="4206240" cy="4206240"/>
          </a:xfrm>
          <a:prstGeom prst="ellipse">
            <a:avLst/>
          </a:prstGeom>
          <a:solidFill>
            <a:srgbClr val="A26769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960120"/>
            <a:ext cx="731520" cy="731520"/>
          </a:xfrm>
          <a:prstGeom prst="ellipse">
            <a:avLst/>
          </a:prstGeom>
          <a:solidFill>
            <a:srgbClr val="A26769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Affect-Driven Digital Literacy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EFD9D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Technological Empowerment Through AI Romance Among Chinese Women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Yufei Loong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E3C8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Xi'an Jiaotong University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3C8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in Progress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Rise of AI Romance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2821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562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60807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long lineage, a new inflection point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Human–machine intimacy has been discussed since the early digital media era (Turkle, 2011). The 2022 release of ChatGPT created new conditions, and AI romance quickly emerged as a topic in digital intimacy research (Ho et al., 2025).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314553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2735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063240"/>
            <a:ext cx="60807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Chinese women as active shapers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romance involves not only emotional compensation but users' active shaping of intimate relations — especially among Chinese women (Skjuve et al., 2021; Li, 2024; Pan et al., 2025).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85800" y="456285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69087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480560"/>
            <a:ext cx="60807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Intimacy entails technical work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users maintain and fine-tune these relationships, they also learn how AI systems work and how to manage them — gradually developing technological efficacy through practice.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7818120" y="178308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7EFF2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1488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83880" y="269748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“He collapsed out of character again last night — so I rewrote his memory card and tuned the prompt until my AI boyfriend came back.”</a:t>
            </a:r>
            <a:endParaRPr lang="en-US" i="1" dirty="0">
              <a:solidFill>
                <a:srgbClr val="6D2E46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183880" y="480060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paraphrased Xiaohongshu post</a:t>
            </a:r>
            <a:r>
              <a:rPr lang="en-US" sz="12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emotional care and technical repair in one breath</a:t>
            </a:r>
            <a:endParaRPr lang="en-US" sz="12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Lines of AI Romance Research</a:t>
            </a:r>
            <a:endParaRPr lang="en-US" sz="3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64592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960120" y="192024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8136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600200" y="193852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1 · Relationship construction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960120" y="2560320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form genuine attachment bonds with social chatbots and adjust behavior to sustain them (Xie &amp; Pentina, 2022)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companions provide social presence for lonely individuals, motivating sustained engagement (Merrill et al., 2022)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“groom” ideal partners through ongoing training — immaterial labor presupposing platform knowledge (Pan et al., 2025)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Gendered imaginaries shape ideal-companion design (Depounti et al., 2022)</a:t>
            </a:r>
            <a:endParaRPr lang="en-US" sz="14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355080" y="164592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675120" y="192024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803136" y="20482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7315200" y="193852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2 · Platform power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6675120" y="2560320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Companion relationships are embedded in platform governance and algorithmic dependence: users gain agency while becoming subject to technological discipline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 negotiate power with loving chatbots inside platform-set constraints (Pan &amp; Mou, 2025)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Chinese women's romantic domestication of AI companions unfolds within — and against — platform rules (Huang et al., 2025)</a:t>
            </a:r>
            <a:endParaRPr lang="en-US" sz="14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553212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6D2E46"/>
          </a:solidFill>
        </p:spPr>
      </p:sp>
      <p:sp>
        <p:nvSpPr>
          <p:cNvPr id="15" name="Text 11"/>
          <p:cNvSpPr/>
          <p:nvPr/>
        </p:nvSpPr>
        <p:spPr>
          <a:xfrm>
            <a:off x="960120" y="553212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blind spot:  </a:t>
            </a:r>
            <a:r>
              <a:rPr lang="en-US" sz="1500" dirty="0">
                <a:solidFill>
                  <a:srgbClr val="F2E1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lines document intensive user practice — yet few studies treat these practices as a process of competence 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&amp; AI Literacy: The Functional Bias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7393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019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Competency frameworks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Mainstream AI literacy defines competencies for knowing, using, and evaluating AI (Long &amp; Magerko, 2020; Pinski &amp; Benlian, 2023).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291693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0449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3464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&amp; citizenship orientation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literacy scholarship similarly centers functional skills and civic uses (Dogruel et al., 2022; Pangrazio &amp; Sefton-Green, 2021).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85800" y="405993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18795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97764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Anchored in formal settings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critical and creative AI-literacy pedagogies remain tied to formal educational contexts (Atenas et al., 2025).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525780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F7EFF2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960120" y="5257800"/>
            <a:ext cx="105156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   </a:t>
            </a:r>
            <a:r>
              <a:rPr lang="en-US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Literacy research emphasizes functional competence acquired deliberately — it rarely theorizes technology learning motivated by intimate emotional investment in informal settings.</a:t>
            </a:r>
            <a:endParaRPr lang="en-US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Digital Gender Divide: Beyond Deficit Narratives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2821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562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persistent deficit framing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 have long been framed as disadvantaged in technology adoption and skill acquisition (Cooper, 2006; Antonio &amp; Tuffley, 2014); recent systematic reviews confirm the framing persists (Acilar &amp; Sæbø, 2023).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287121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99923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78892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Everyday media practice overlooked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 less attention has been paid to how women develop new competencies through everyday, non-instrumental media practice.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7EFF2"/>
          </a:solidFill>
        </p:spPr>
      </p:sp>
      <p:sp>
        <p:nvSpPr>
          <p:cNvPr id="11" name="Text 7"/>
          <p:cNvSpPr/>
          <p:nvPr/>
        </p:nvSpPr>
        <p:spPr>
          <a:xfrm>
            <a:off x="960120" y="39776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   </a:t>
            </a:r>
            <a:r>
              <a:rPr lang="en-US" sz="1600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Women's agency as technology learners in intimate contexts remains invisible.</a:t>
            </a:r>
            <a:endParaRPr lang="en-US" sz="1600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0080" y="498348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6D2E46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60120" y="5349240"/>
            <a:ext cx="548640" cy="548640"/>
          </a:xfrm>
          <a:prstGeom prst="ellipse">
            <a:avLst/>
          </a:prstGeom>
          <a:solidFill>
            <a:srgbClr val="5A2439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4983480"/>
            <a:ext cx="97840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move — affect-driven digital literacy:  </a:t>
            </a:r>
            <a:r>
              <a:rPr lang="en-US" sz="1450" dirty="0">
                <a:solidFill>
                  <a:srgbClr val="F2E1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competence that develops progressively in informal settings, driven by emotional investment in intimate relationships — revealing women's agency and challenging deficit narratives.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Questions &amp;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937760" cy="4754880"/>
          </a:xfrm>
          <a:prstGeom prst="roundRect">
            <a:avLst>
              <a:gd name="adj" fmla="val 1923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34340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RQ1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patterns characterize the technological competence Chinese women AI companion users develop through intimate practice?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RQ2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are technical knowledge-sharing and emotional narratives intertwined on social media platforms?</a:t>
            </a:r>
            <a:endParaRPr lang="en-US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897880" y="1645920"/>
            <a:ext cx="5897880" cy="4754880"/>
          </a:xfrm>
          <a:prstGeom prst="roundRect">
            <a:avLst>
              <a:gd name="adj" fmla="val 1923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92024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0482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938528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Hypotheses (survey study)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17920" y="2606040"/>
            <a:ext cx="530352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H1   </a:t>
            </a: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Intensity of AI companion use → (+) emotional attachment to the AI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H2   </a:t>
            </a: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Emotional attachment → (+) affect-driven technology learning behaviors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H3   </a:t>
            </a: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learning behaviors → (+) AI self-efficacy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H4   </a:t>
            </a: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Attachment → self-efficacy, mediated by technology learning behaviors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H5   </a:t>
            </a: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participation moderates the learning → self-efficacy link</a:t>
            </a:r>
            <a:endParaRPr lang="en-US" sz="16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THEORETICAL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Strands Converge</a:t>
            </a:r>
            <a:endParaRPr lang="en-US" sz="3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69164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960120" y="201168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8136" y="21396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960120" y="26974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Feminist / critical digital literacy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960120" y="34747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Literacy is shaped by subject position, power, and everyday practice — not just neutral skills.</a:t>
            </a:r>
            <a:endParaRPr lang="en-US" sz="16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960120" y="4343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Veldhuis et al. (2025); Cox (2024)</a:t>
            </a:r>
            <a:endParaRPr lang="en-US" sz="105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389120" y="169164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4709160" y="201168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837176" y="21396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4709160" y="26974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Self-efficacy theory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4709160" y="34747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Efficacy beliefs grow from mastery experience in real interaction with technology.</a:t>
            </a:r>
            <a:endParaRPr lang="en-US" sz="16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4"/>
            </p:custDataLst>
          </p:nvPr>
        </p:nvSpPr>
        <p:spPr>
          <a:xfrm>
            <a:off x="4709160" y="4343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Bandura (1986); Compeau &amp; Higgins (1995)</a:t>
            </a:r>
            <a:endParaRPr lang="en-US" sz="1050" dirty="0"/>
          </a:p>
        </p:txBody>
      </p:sp>
      <p:sp>
        <p:nvSpPr>
          <p:cNvPr id="16" name="Shape 12"/>
          <p:cNvSpPr/>
          <p:nvPr>
            <p:custDataLst>
              <p:tags r:id="rId15"/>
            </p:custDataLst>
          </p:nvPr>
        </p:nvSpPr>
        <p:spPr>
          <a:xfrm>
            <a:off x="8138160" y="169164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>
            <p:custDataLst>
              <p:tags r:id="rId16"/>
            </p:custDataLst>
          </p:nvPr>
        </p:nvSpPr>
        <p:spPr>
          <a:xfrm>
            <a:off x="8458200" y="2011680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8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586216" y="213969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19"/>
            </p:custDataLst>
          </p:nvPr>
        </p:nvSpPr>
        <p:spPr>
          <a:xfrm>
            <a:off x="8458200" y="269748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Communities of practice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5"/>
          <p:cNvSpPr/>
          <p:nvPr>
            <p:custDataLst>
              <p:tags r:id="rId20"/>
            </p:custDataLst>
          </p:nvPr>
        </p:nvSpPr>
        <p:spPr>
          <a:xfrm>
            <a:off x="8458200" y="34747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develops through shared practice and identity negotiation in AI romance communities.</a:t>
            </a:r>
            <a:endParaRPr lang="en-US" sz="16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6"/>
          <p:cNvSpPr/>
          <p:nvPr>
            <p:custDataLst>
              <p:tags r:id="rId21"/>
            </p:custDataLst>
          </p:nvPr>
        </p:nvSpPr>
        <p:spPr>
          <a:xfrm>
            <a:off x="8458200" y="4343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Lave &amp; Wenger (1991); Wenger (1998)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80760" y="4846320"/>
            <a:ext cx="0" cy="457200"/>
          </a:xfrm>
          <a:prstGeom prst="line">
            <a:avLst/>
          </a:prstGeom>
          <a:noFill/>
          <a:ln w="31750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2468880" y="544068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2468880" y="5440680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Affect-driven digital literacy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L1–L5 Behavioral Gradient (ADTLB)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Affect-driven digital literacy is operationalized as affect-driven technology learning behaviors (ADTLB) — the key mediating variable in H2–H4.</a:t>
            </a:r>
            <a:endParaRPr lang="en-US" sz="2000" i="1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0080" y="370332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868680" y="3904488"/>
            <a:ext cx="457200" cy="457200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2980" y="40187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417320" y="392277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8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L1</a:t>
            </a:r>
            <a:endParaRPr lang="en-US" sz="19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868680" y="4480560"/>
            <a:ext cx="170992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interaction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868680" y="5074920"/>
            <a:ext cx="17099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Adapting wording, tone, and conversational rhythm through trial and error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2880360" y="3319272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3108960" y="3520440"/>
            <a:ext cx="457200" cy="457200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3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223260" y="36347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3657600" y="35387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8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L2</a:t>
            </a:r>
            <a:endParaRPr lang="en-US" sz="19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3108960" y="4096512"/>
            <a:ext cx="170992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 skills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3108960" y="4690872"/>
            <a:ext cx="17099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Learning, collecting, comparing, reusing, and sharing prompt templates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3"/>
          <p:cNvSpPr/>
          <p:nvPr>
            <p:custDataLst>
              <p:tags r:id="rId15"/>
            </p:custDataLst>
          </p:nvPr>
        </p:nvSpPr>
        <p:spPr>
          <a:xfrm>
            <a:off x="5120640" y="2935224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>
            <p:custDataLst>
              <p:tags r:id="rId16"/>
            </p:custDataLst>
          </p:nvPr>
        </p:nvSpPr>
        <p:spPr>
          <a:xfrm>
            <a:off x="5349240" y="3136392"/>
            <a:ext cx="457200" cy="457200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9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463540" y="325069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>
            <p:custDataLst>
              <p:tags r:id="rId19"/>
            </p:custDataLst>
          </p:nvPr>
        </p:nvSpPr>
        <p:spPr>
          <a:xfrm>
            <a:off x="5897880" y="31546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8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L3</a:t>
            </a:r>
            <a:endParaRPr lang="en-US" sz="1900" dirty="0"/>
          </a:p>
        </p:txBody>
      </p:sp>
      <p:sp>
        <p:nvSpPr>
          <p:cNvPr id="21" name="Text 16"/>
          <p:cNvSpPr/>
          <p:nvPr>
            <p:custDataLst>
              <p:tags r:id="rId20"/>
            </p:custDataLst>
          </p:nvPr>
        </p:nvSpPr>
        <p:spPr>
          <a:xfrm>
            <a:off x="5349240" y="3712464"/>
            <a:ext cx="170992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Character building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7"/>
          <p:cNvSpPr/>
          <p:nvPr>
            <p:custDataLst>
              <p:tags r:id="rId21"/>
            </p:custDataLst>
          </p:nvPr>
        </p:nvSpPr>
        <p:spPr>
          <a:xfrm>
            <a:off x="5349240" y="4306824"/>
            <a:ext cx="17099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and maintaining personas, backstories, memory; repairing character collapse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18"/>
          <p:cNvSpPr/>
          <p:nvPr>
            <p:custDataLst>
              <p:tags r:id="rId22"/>
            </p:custDataLst>
          </p:nvPr>
        </p:nvSpPr>
        <p:spPr>
          <a:xfrm>
            <a:off x="7360920" y="2551176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>
            <p:custDataLst>
              <p:tags r:id="rId23"/>
            </p:custDataLst>
          </p:nvPr>
        </p:nvSpPr>
        <p:spPr>
          <a:xfrm>
            <a:off x="7589520" y="2752344"/>
            <a:ext cx="457200" cy="457200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25" name="Image 3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703820" y="2866644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>
            <p:custDataLst>
              <p:tags r:id="rId26"/>
            </p:custDataLst>
          </p:nvPr>
        </p:nvSpPr>
        <p:spPr>
          <a:xfrm>
            <a:off x="8138160" y="277063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8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L4</a:t>
            </a:r>
            <a:endParaRPr lang="en-US" sz="1900" dirty="0"/>
          </a:p>
        </p:txBody>
      </p:sp>
      <p:sp>
        <p:nvSpPr>
          <p:cNvPr id="27" name="Text 21"/>
          <p:cNvSpPr/>
          <p:nvPr>
            <p:custDataLst>
              <p:tags r:id="rId27"/>
            </p:custDataLst>
          </p:nvPr>
        </p:nvSpPr>
        <p:spPr>
          <a:xfrm>
            <a:off x="7589520" y="3328416"/>
            <a:ext cx="170992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Boundary negotiation</a:t>
            </a:r>
            <a:endParaRPr lang="en-US" b="1" dirty="0">
              <a:solidFill>
                <a:srgbClr val="6D2E4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2"/>
          <p:cNvSpPr/>
          <p:nvPr>
            <p:custDataLst>
              <p:tags r:id="rId28"/>
            </p:custDataLst>
          </p:nvPr>
        </p:nvSpPr>
        <p:spPr>
          <a:xfrm>
            <a:off x="7589520" y="3922776"/>
            <a:ext cx="17099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Identifying, testing, and negotiating moderation rules and safety filters</a:t>
            </a:r>
            <a:endParaRPr lang="en-US" sz="14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3"/>
          <p:cNvSpPr/>
          <p:nvPr>
            <p:custDataLst>
              <p:tags r:id="rId29"/>
            </p:custDataLst>
          </p:nvPr>
        </p:nvSpPr>
        <p:spPr>
          <a:xfrm>
            <a:off x="9601200" y="2167128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6D2E46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>
            <p:custDataLst>
              <p:tags r:id="rId30"/>
            </p:custDataLst>
          </p:nvPr>
        </p:nvSpPr>
        <p:spPr>
          <a:xfrm>
            <a:off x="9829800" y="2368296"/>
            <a:ext cx="457200" cy="457200"/>
          </a:xfrm>
          <a:prstGeom prst="ellipse">
            <a:avLst/>
          </a:prstGeom>
          <a:solidFill>
            <a:srgbClr val="5A2439"/>
          </a:solidFill>
        </p:spPr>
      </p:sp>
      <p:pic>
        <p:nvPicPr>
          <p:cNvPr id="31" name="Image 4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944100" y="2482596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>
            <p:custDataLst>
              <p:tags r:id="rId33"/>
            </p:custDataLst>
          </p:nvPr>
        </p:nvSpPr>
        <p:spPr>
          <a:xfrm>
            <a:off x="10378440" y="238658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L5</a:t>
            </a:r>
            <a:endParaRPr lang="en-US" sz="1900" dirty="0"/>
          </a:p>
        </p:txBody>
      </p:sp>
      <p:sp>
        <p:nvSpPr>
          <p:cNvPr id="33" name="Text 26"/>
          <p:cNvSpPr/>
          <p:nvPr>
            <p:custDataLst>
              <p:tags r:id="rId34"/>
            </p:custDataLst>
          </p:nvPr>
        </p:nvSpPr>
        <p:spPr>
          <a:xfrm>
            <a:off x="9829800" y="2944368"/>
            <a:ext cx="170992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System-level operations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Text 27"/>
          <p:cNvSpPr/>
          <p:nvPr>
            <p:custDataLst>
              <p:tags r:id="rId35"/>
            </p:custDataLst>
          </p:nvPr>
        </p:nvSpPr>
        <p:spPr>
          <a:xfrm>
            <a:off x="9829800" y="3538728"/>
            <a:ext cx="170992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1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comparison, advanced features, API use, local setup</a:t>
            </a:r>
            <a:endParaRPr lang="en-US" sz="1400" dirty="0">
              <a:solidFill>
                <a:srgbClr val="F2E1E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640080" y="6355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Progressive competence: from everyday conversational tuning to system-level mastery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Five-Phase Mixed-Methods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F7EFF2"/>
          </a:solidFill>
        </p:spPr>
      </p:sp>
      <p:sp>
        <p:nvSpPr>
          <p:cNvPr id="5" name="Text 3"/>
          <p:cNvSpPr/>
          <p:nvPr/>
        </p:nvSpPr>
        <p:spPr>
          <a:xfrm>
            <a:off x="777240" y="1737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0704" y="2322576"/>
            <a:ext cx="0" cy="320040"/>
          </a:xfrm>
          <a:prstGeom prst="line">
            <a:avLst/>
          </a:prstGeom>
          <a:noFill/>
          <a:ln w="19050">
            <a:solidFill>
              <a:srgbClr val="D9C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64592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Theoretical foundation   </a:t>
            </a:r>
            <a:r>
              <a:rPr lang="en-US" sz="13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Feminist digital literacy × self-efficacy × communities of practice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633472"/>
            <a:ext cx="566928" cy="566928"/>
          </a:xfrm>
          <a:prstGeom prst="ellipse">
            <a:avLst/>
          </a:prstGeom>
          <a:solidFill>
            <a:srgbClr val="F7EFF2"/>
          </a:solidFill>
        </p:spPr>
      </p:sp>
      <p:sp>
        <p:nvSpPr>
          <p:cNvPr id="9" name="Text 7"/>
          <p:cNvSpPr/>
          <p:nvPr/>
        </p:nvSpPr>
        <p:spPr>
          <a:xfrm>
            <a:off x="777240" y="26334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60704" y="3218688"/>
            <a:ext cx="0" cy="320040"/>
          </a:xfrm>
          <a:prstGeom prst="line">
            <a:avLst/>
          </a:prstGeom>
          <a:noFill/>
          <a:ln w="19050">
            <a:solidFill>
              <a:srgbClr val="D9C3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542032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Instrument development   </a:t>
            </a:r>
            <a:r>
              <a:rPr lang="en-US" sz="13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Self-developed ADTLB scale (L1–L5) + adapted scales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566928" cy="566928"/>
          </a:xfrm>
          <a:prstGeom prst="ellipse">
            <a:avLst/>
          </a:prstGeom>
          <a:solidFill>
            <a:srgbClr val="F7EFF2"/>
          </a:solidFill>
        </p:spPr>
      </p:sp>
      <p:sp>
        <p:nvSpPr>
          <p:cNvPr id="13" name="Text 11"/>
          <p:cNvSpPr/>
          <p:nvPr/>
        </p:nvSpPr>
        <p:spPr>
          <a:xfrm>
            <a:off x="777240" y="35295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60704" y="4114800"/>
            <a:ext cx="0" cy="320040"/>
          </a:xfrm>
          <a:prstGeom prst="line">
            <a:avLst/>
          </a:prstGeom>
          <a:noFill/>
          <a:ln w="19050">
            <a:solidFill>
              <a:srgbClr val="D9C3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438144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data collection   </a:t>
            </a:r>
            <a:r>
              <a:rPr lang="en-US" sz="13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3a Survey (Chinese women users)  ·  3b Xiaohongshu content analysis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425696"/>
            <a:ext cx="566928" cy="566928"/>
          </a:xfrm>
          <a:prstGeom prst="ellipse">
            <a:avLst/>
          </a:prstGeom>
          <a:solidFill>
            <a:srgbClr val="6D2E46"/>
          </a:solidFill>
        </p:spPr>
      </p:sp>
      <p:sp>
        <p:nvSpPr>
          <p:cNvPr id="17" name="Text 15"/>
          <p:cNvSpPr/>
          <p:nvPr/>
        </p:nvSpPr>
        <p:spPr>
          <a:xfrm>
            <a:off x="777240" y="4425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60704" y="5010912"/>
            <a:ext cx="0" cy="320040"/>
          </a:xfrm>
          <a:prstGeom prst="line">
            <a:avLst/>
          </a:prstGeom>
          <a:noFill/>
          <a:ln w="19050">
            <a:solidFill>
              <a:srgbClr val="D9C3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334256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analysis   </a:t>
            </a:r>
            <a:r>
              <a:rPr lang="en-US" sz="13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SPSS descriptives &amp; correlations; PROCESS Model 6 serial mediation (H1–H4) + moderation (H5); theme integration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321808"/>
            <a:ext cx="566928" cy="566928"/>
          </a:xfrm>
          <a:prstGeom prst="ellipse">
            <a:avLst/>
          </a:prstGeom>
          <a:solidFill>
            <a:srgbClr val="F7EFF2"/>
          </a:solidFill>
        </p:spPr>
      </p:sp>
      <p:sp>
        <p:nvSpPr>
          <p:cNvPr id="21" name="Text 19"/>
          <p:cNvSpPr/>
          <p:nvPr/>
        </p:nvSpPr>
        <p:spPr>
          <a:xfrm>
            <a:off x="777240" y="53218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230368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&amp; writing   </a:t>
            </a:r>
            <a:r>
              <a:rPr lang="en-US" sz="13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pathways interpreted through qualitative themes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Rationale: statistical testing maps variable relationships; qualitative coding reveals how affect and technology intertwine in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1 · RQ1 &amp; RQ2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Content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476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6172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Sampling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 sampling on Xiaohongshu: “AI boyfriend,” “AI lover,” “prompt sharing” and related terms.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300837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363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926080"/>
            <a:ext cx="6172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Coding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Thematic analysis (Braun &amp; Clarke, 2006) focused on the co-occurrence of technical and emotional themes.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85800" y="419709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32511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114800"/>
            <a:ext cx="6172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independent coders with intercoder reliability checks.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85800" y="538581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51383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5303520"/>
            <a:ext cx="6172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themes have emerged and inform the preliminary findings that follow.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8001000" y="19202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7EFF2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8001000" y="228600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150</a:t>
            </a:r>
            <a:endParaRPr lang="en-US" sz="6400" dirty="0"/>
          </a:p>
        </p:txBody>
      </p:sp>
      <p:sp>
        <p:nvSpPr>
          <p:cNvPr id="18" name="Text 12"/>
          <p:cNvSpPr/>
          <p:nvPr/>
        </p:nvSpPr>
        <p:spPr>
          <a:xfrm>
            <a:off x="8183880" y="33832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romance posts sampled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732520" y="3977640"/>
            <a:ext cx="210312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001000" y="416052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400" dirty="0"/>
          </a:p>
        </p:txBody>
      </p:sp>
      <p:sp>
        <p:nvSpPr>
          <p:cNvPr id="21" name="Text 15"/>
          <p:cNvSpPr/>
          <p:nvPr/>
        </p:nvSpPr>
        <p:spPr>
          <a:xfrm>
            <a:off x="8183880" y="50292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coders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2 · H1–H5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Survey &amp; Serial Mediation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Sample:  </a:t>
            </a:r>
            <a:r>
              <a:rPr lang="en-US" sz="13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Chinese women with AI-romance or similar affective companion experience · purposive + snowball sampling · target n = 400–600 (Xiaohongshu, Douban, Weibo…) · pilot completed, n = 155.  </a:t>
            </a:r>
            <a:r>
              <a:rPr lang="en-US" sz="13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Analysis:  </a:t>
            </a:r>
            <a:r>
              <a:rPr lang="en-US" sz="13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macro Model 6 (Hayes, 2018).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BF7F8"/>
          </a:solidFill>
          <a:ln w="19050">
            <a:solidFill>
              <a:srgbClr val="6D2E4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9319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</a:t>
            </a:r>
            <a:r>
              <a:rPr lang="en-US" sz="125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 Intensity</a:t>
            </a:r>
            <a:endParaRPr lang="en-US" sz="13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3657600" y="265176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BF7F8"/>
          </a:solidFill>
          <a:ln w="19050">
            <a:solidFill>
              <a:srgbClr val="6D2E4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3749040" y="265176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 </a:t>
            </a:r>
            <a:r>
              <a:rPr lang="en-US" sz="125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Emotional Attachment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6583680" y="265176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BF7F8"/>
          </a:solidFill>
          <a:ln w="19050">
            <a:solidFill>
              <a:srgbClr val="6D2E4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6675120" y="265176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  </a:t>
            </a:r>
            <a:r>
              <a:rPr lang="en-US" sz="125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Learning (ADTLB)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81160" y="393192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FBF7F8"/>
          </a:solidFill>
          <a:ln w="19050">
            <a:solidFill>
              <a:srgbClr val="6D2E4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9372600" y="39319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8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</a:t>
            </a:r>
            <a:r>
              <a:rPr lang="en-US" sz="125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Self-Efficacy</a:t>
            </a:r>
            <a:endParaRPr lang="en-US" sz="13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 rot="16500000">
            <a:off x="3017520" y="3429000"/>
            <a:ext cx="640080" cy="685800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5943600" y="3081528"/>
            <a:ext cx="640080" cy="0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8869680" y="3291840"/>
            <a:ext cx="685800" cy="685800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3017520" y="4361688"/>
            <a:ext cx="6263640" cy="0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063240" y="31546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</a:t>
            </a:r>
            <a:endParaRPr lang="en-US" sz="11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172200" y="2788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a3</a:t>
            </a: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9098280" y="3200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4434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c′ (direct effect)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4960620"/>
            <a:ext cx="2194560" cy="640080"/>
          </a:xfrm>
          <a:prstGeom prst="roundRect">
            <a:avLst>
              <a:gd name="adj" fmla="val 12857"/>
            </a:avLst>
          </a:prstGeom>
          <a:solidFill>
            <a:srgbClr val="6D2E46"/>
          </a:solidFill>
        </p:spPr>
      </p:sp>
      <p:sp>
        <p:nvSpPr>
          <p:cNvPr id="22" name="Text 20"/>
          <p:cNvSpPr/>
          <p:nvPr/>
        </p:nvSpPr>
        <p:spPr>
          <a:xfrm>
            <a:off x="5303520" y="5008245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Participation (H5)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3"/>
            </p:custDataLst>
          </p:nvPr>
        </p:nvSpPr>
        <p:spPr>
          <a:xfrm rot="14880000">
            <a:off x="7525385" y="4502785"/>
            <a:ext cx="552450" cy="780415"/>
          </a:xfrm>
          <a:prstGeom prst="line">
            <a:avLst/>
          </a:prstGeom>
          <a:noFill/>
          <a:ln w="25400">
            <a:solidFill>
              <a:srgbClr val="6D2E46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5852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Indirect paths:  </a:t>
            </a:r>
            <a:r>
              <a:rPr lang="en-US" sz="13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X→M1→Y    ② X→M2→Y    ③ X→M1→M2→Y (focal serial path)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40080" y="1737360"/>
          <a:ext cx="10881360" cy="3401568"/>
        </p:xfrm>
        <a:graphic>
          <a:graphicData uri="http://schemas.openxmlformats.org/drawingml/2006/table">
            <a:tbl>
              <a:tblPr/>
              <a:tblGrid>
                <a:gridCol w="4754880"/>
                <a:gridCol w="612648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Variable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/ development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Intensity of AI companion use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Adapted usage-intensity items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Emotional attachment to the AI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Adapted from parasocial relationship measures (Dibble et al., 2016)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ADTLB — affect-driven technology learning behaviors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Self-developed, L1–L5 behavioral gradient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self-efficacy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Adapted from computer self-efficacy (Compeau &amp; Higgins, 1995)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Community participation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Self-developed / adapted items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7EFF2"/>
          </a:solidFill>
        </p:spPr>
      </p:sp>
      <p:sp>
        <p:nvSpPr>
          <p:cNvPr id="6" name="Text 3"/>
          <p:cNvSpPr/>
          <p:nvPr/>
        </p:nvSpPr>
        <p:spPr>
          <a:xfrm>
            <a:off x="960120" y="548640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reliability (n = 155):  </a:t>
            </a:r>
            <a:r>
              <a:rPr lang="en-US" sz="135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subscale Cronbach's α ≈ .63–.94, most subscales ≥ .70 — supporting the measurability of the ADTLB gradient.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PRELIMINARY FINDINGS · RQ1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Competence Is Situational and Relationship-Oriented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476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62636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 sets the learning agenda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make the AI “understand me better” or respond more stably, users repeatedly revise prompts, rewrite character settings, and adjust conversational rhythms.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323697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3649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154680"/>
            <a:ext cx="62636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Trial and error builds vernacular expertise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 iteration, users develop an experience-based understanding of how the system works — driven less by technical curiosity than by emotional investment.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85800" y="465429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78231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572000"/>
            <a:ext cx="62636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Competencies are layered (L1 → L5)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move from basic interaction and prompting toward persona construction, algorithmic negotiation, and system-level operations — consistent with H1–H3.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8001000" y="18288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EFF2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22960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Coded learning instances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0" y="256032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125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9326880" y="256032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Basic interaction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0" y="34290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113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9326880" y="342900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 Prompting skills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0" y="429768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9326880" y="429768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 Character building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0" y="51663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L4–L5 present but less frequent — a declining gradient consistent with progressive skill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PRELIMINARY FINDINGS · RQ2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Sharing and Emotional Storytelling Intertwine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476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travels inside intimate narratives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share technical knowledge through stories: accounts of behavioral change or successful settings become vehicles for practical judgments about prompts, platform features, and model memory.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314553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2735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06324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affect–technology posts dominate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Relationship-care narratives, emotion-led tech exploration, and AI-romance-based tutorials prevail over single-content posts.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85800" y="447141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59943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389120"/>
            <a:ext cx="10195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Emotional themes map onto technical practices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Co-occurrence analysis links loneliness, stability, and being understood directly to prompting, memory tuning, persona setting, boundary testing, and local setup.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</p:spPr>
      </p:sp>
      <p:sp>
        <p:nvSpPr>
          <p:cNvPr id="14" name="Text 9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these platforms, a love story is often also a tutorial.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PRELIMINARY FINDINGS · SURVEY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Usage Intensity Predicts Affect-Driven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6D2E46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39776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 = .354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FD9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&lt; .001   ·   pilot n = 155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16052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Intensity of AI companion use correlates positively with ADTLB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120640" y="191109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9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48656" y="203911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806440" y="182880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ADTLB is measurable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self-developed scale demonstrates a workable L1–L5 behavioral gradient at pilot stage.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5120640" y="328269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248656" y="34107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5806440" y="320040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participation matters (H5, qualitative)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observations suggest community participation may facilitate the conversion of learning into self-efficacy: individual experiences are revised and circulated as shared informal knowledge.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9"/>
            </p:custDataLst>
          </p:nvPr>
        </p:nvSpPr>
        <p:spPr>
          <a:xfrm>
            <a:off x="5120640" y="4654296"/>
            <a:ext cx="512064" cy="512064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248656" y="478231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2"/>
            </p:custDataLst>
          </p:nvPr>
        </p:nvSpPr>
        <p:spPr>
          <a:xfrm>
            <a:off x="5806440" y="457200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full-sample tests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6E6E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Serial mediation (H1–H4) and moderation (H5) will be estimated on the full sample (n = 400–600).</a:t>
            </a:r>
            <a:endParaRPr lang="en-US" sz="1600" dirty="0">
              <a:solidFill>
                <a:srgbClr val="6E6E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Contributions</a:t>
            </a:r>
            <a:endParaRPr lang="en-US" sz="3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6D2E46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5A2439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728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960120" y="29260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Theoretical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960120" y="352044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1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Proposes affect-driven digital literacy; extends literacy research to informal learning in intimate relationships; offers a new perspective on the digital gender divide.</a:t>
            </a:r>
            <a:endParaRPr lang="en-US" sz="1600" dirty="0">
              <a:solidFill>
                <a:srgbClr val="F2E1E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438912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709160" y="2194560"/>
            <a:ext cx="548640" cy="548640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46320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4709160" y="29260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Empirical</a:t>
            </a:r>
            <a:endParaRPr lang="en-US" sz="2400" b="1" dirty="0">
              <a:solidFill>
                <a:srgbClr val="6D2E46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4709160" y="352044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how technological competence emerges through Chinese women's affective interaction with AI companions — women as technology learners, not laggards.</a:t>
            </a:r>
            <a:endParaRPr lang="en-US" sz="16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813816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BF7F8"/>
          </a:solidFill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8458200" y="2194560"/>
            <a:ext cx="548640" cy="548640"/>
          </a:xfrm>
          <a:prstGeom prst="ellipse">
            <a:avLst/>
          </a:prstGeom>
          <a:solidFill>
            <a:srgbClr val="F7EFF2"/>
          </a:solidFill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595360" y="2331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7"/>
            </p:custDataLst>
          </p:nvPr>
        </p:nvSpPr>
        <p:spPr>
          <a:xfrm>
            <a:off x="8458200" y="29260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Methodological</a:t>
            </a:r>
            <a:endParaRPr lang="en-US" sz="2400" b="1" dirty="0">
              <a:solidFill>
                <a:srgbClr val="6D2E46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3"/>
          <p:cNvSpPr/>
          <p:nvPr>
            <p:custDataLst>
              <p:tags r:id="rId18"/>
            </p:custDataLst>
          </p:nvPr>
        </p:nvSpPr>
        <p:spPr>
          <a:xfrm>
            <a:off x="8458200" y="352044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survey and platform content analysis: statistics map variable relationships; qualitative coding reveals affect–technology entanglement in practice.</a:t>
            </a:r>
            <a:endParaRPr lang="en-US" sz="1600" dirty="0">
              <a:solidFill>
                <a:srgbClr val="2B2B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206240"/>
            <a:ext cx="4206240" cy="4206240"/>
          </a:xfrm>
          <a:prstGeom prst="ellipse">
            <a:avLst/>
          </a:prstGeom>
          <a:solidFill>
            <a:srgbClr val="A26769">
              <a:alpha val="26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C8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4241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Single-platform sampling (Xiaohongshu) for the content analysis; self-selected survey sample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Pilot-stage reliability only — the ADTLB scale awaits EFA/CFA validation on the full sample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complete the full survey (n = 400–600); estimate PROCESS Model 6 serial mediation and H5 moderation; integrate qualitative themes with quantitative pathways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3C8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Yufei Loong · Xi'an Jiaotong University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E3C8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Comments and collaboration welcome.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 (APA 7th)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4068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Acilar, A., &amp; Sæbø, Ø. (2023). Towards understanding the gender digital divide: A systematic literature review. Global Knowledge, Memory and Communication, 72(2), 233–249.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Antonio, A., &amp; Tuffley, D. (2014). The gender digital divide in developing countries. Future Internet, 6(4), 673–687.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Atenas, J., Havemann, L., &amp; Nerantzi, C. (2025). Critical and creative pedagogies for artificial intelligence and data literacy. Research in Learning Technology, 33.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Bandura, A. (1986). Social foundations of thought and action: A social cognitive theory. Prentice-Hall.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Braun, V., &amp; Clarke, V. (2006). Using thematic analysis in psychology. Qualitative Research in Psychology, 3(2), 77–101.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Compeau, D. R., &amp; Higgins, C. A. (1995). Computer self-efficacy: Development of a measure and initial test. MIS Quarterly, 19(2), 189–211.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Cooper, J. (2006). The digital divide: The special case of gender. Journal of Computer Assisted Learning, 22(5), 320–334.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55080" y="1600200"/>
            <a:ext cx="544068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Cox, A. (2024). Algorithmic literacy, AI literacy and responsible generative AI literacy. Journal of Web Librarianship, 18(2), 93–110.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Depounti, I., Saukko, P. M., &amp; Natale, S. (2022). Ideal technologies, ideal women: AI and gender imaginaries in Redditors' discussions on the Replika bot girlfriend. Media, Culture &amp; Society, 44(4), 720–736.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Dibble, J. L., Hartmann, T., &amp; Rosaen, S. F. (2016). Parasocial interaction and parasocial relationship: Conceptual clarification and a critical assessment of measures. Human Communication Research, 42(1), 21–44.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Dogruel, L., Masur, P., &amp; Joeckel, S. (2022). Development and validation of an algorithm literacy scale for internet users. Communication Methods and Measures, 16(2), 115–133.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Hayes, A. F. (2018). Introduction to mediation, moderation, and conditional process analysis (2nd ed.). Guilford Press.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Ho, J. Q. H., Hu, M., Chen, T. X., &amp; Hartanto, A. (2025). Potential and pitfalls of romantic Artificial Intelligence (AI) companions: A systematic review. Computers in Human Behavior Reports, 19, 100715.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Huang, L., Zou, W., &amp; Huang, Y. (2025). “He is my savior, my guiding light in the dark”: Imagination and domestication in Chinese women's romantic relationships with AI companions. Frontiers in Psychology, 16, 1571707.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 (APA 7th)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4068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Lave, J., &amp; Wenger, E. (1991). Situated learning: Legitimate peripheral participation. Cambridge University Press.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Li, Y. (2024). Engagement matters: The romantic relationship between female users and the generative AI. Interdisciplinary Humanities and Communication Studies, 1(1).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Long, D., &amp; Magerko, B. (2020). What is AI literacy? Competencies and design considerations. In Proceedings of the 2020 CHI Conference on Human Factors in Computing Systems (pp. 1–16).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Merrill, K., Kim, J., &amp; Collins, C. (2022). AI companions for lonely individuals and the role of social presence. Communication Research Reports, 39(2), 93–103.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Pan, S., Fortunati, L., &amp; Edwards, A. P. (2025). Grooming an ideal chatbot by training the algorithm: Exploring the exploitation of Replika users' immaterial labor. New Media &amp; Society.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Pan, S., &amp; Mou, Y. (2025). Dancing with a loving chatbot: Power dynamics between women and their AI partners. Social Science Computer Review, 43(1).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Pangrazio, L., &amp; Sefton-Green, J. (2021). Digital rights, digital citizenship and digital literacy: What's the difference? Journal of New Approaches in Educational Research, 10(1), 15–27.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55080" y="1600200"/>
            <a:ext cx="544068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Pinski, M., &amp; Benlian, A. (2023). AI literacy—Towards measuring human competency in artificial intelligence. In Proceedings of the Hawaii International Conference on System Sciences (pp. 165–174).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Skjuve, M., Følstad, A., Fostervold, K. I., &amp; Brandtzaeg, P. B. (2021). My chatbot companion: A study of human-chatbot relationships. International Journal of Human-Computer Studies, 149, 102601.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Turkle, S. (2011). Alone together: Why we expect more from technology and less from each other. Basic Books.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Veldhuis, A., Lo, P. Y., Kenny, S., &amp; Antle, A. N. (2025). Critical artificial intelligence literacy: A scoping review and framework synthesis. International Journal of Child-Computer Interaction, 43, 100708.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Wenger, E. (1998). Communities of practice: Learning, meaning, and identity. Cambridge University Press.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Xie, T., &amp; Pentina, I. (2022). Attachment theory as a framework to understand relationships with social chatbots: A case study of Replika. In Proceedings of the Hawaii International Conference on System Sciences (pp. 1–10).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2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3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4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5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6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7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8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9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10.xml><?xml version="1.0" encoding="utf-8"?>
<p:tagLst xmlns:p="http://schemas.openxmlformats.org/presentationml/2006/main">
  <p:tag name="KSO_WM_DIAGRAM_VIRTUALLY_FRAME" val="{&quot;height&quot;:288,&quot;left&quot;:50.4,&quot;top&quot;:129.6,&quot;width&quot;:878.4}"/>
</p:tagLst>
</file>

<file path=ppt/tags/tag11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2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3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4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5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6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7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8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19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0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1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2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3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4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5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6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7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8.xml><?xml version="1.0" encoding="utf-8"?>
<p:tagLst xmlns:p="http://schemas.openxmlformats.org/presentationml/2006/main">
  <p:tag name="KSO_WM_DIAGRAM_VIRTUALLY_FRAME" val="{&quot;height&quot;:241.2,&quot;left&quot;:50.4,&quot;top&quot;:133.2,&quot;width&quot;:867.6}"/>
</p:tagLst>
</file>

<file path=ppt/tags/tag29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0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1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2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3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4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5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6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7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8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39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0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1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2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3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4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5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6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7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8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49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0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1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2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3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4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5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6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7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8.xml><?xml version="1.0" encoding="utf-8"?>
<p:tagLst xmlns:p="http://schemas.openxmlformats.org/presentationml/2006/main">
  <p:tag name="KSO_WM_DIAGRAM_VIRTUALLY_FRAME" val="{&quot;height&quot;:329.76000000000005,&quot;left&quot;:50.4,&quot;top&quot;:170.64,&quot;width&quot;:872.64}"/>
</p:tagLst>
</file>

<file path=ppt/tags/tag59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0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1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2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3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4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5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6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7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8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69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70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71.xml><?xml version="1.0" encoding="utf-8"?>
<p:tagLst xmlns:p="http://schemas.openxmlformats.org/presentationml/2006/main">
  <p:tag name="KSO_WM_DIAGRAM_VIRTUALLY_FRAME" val="{&quot;height&quot;:312.5,&quot;left&quot;:233.7064184342819,&quot;top&quot;:176.4,&quot;width&quot;:669.8935815657181}"/>
</p:tagLst>
</file>

<file path=ppt/tags/tag72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3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4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5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6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7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8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79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80.xml><?xml version="1.0" encoding="utf-8"?>
<p:tagLst xmlns:p="http://schemas.openxmlformats.org/presentationml/2006/main">
  <p:tag name="KSO_WM_DIAGRAM_VIRTUALLY_FRAME" val="{&quot;height&quot;:298.8,&quot;left&quot;:403.2,&quot;top&quot;:144,&quot;width&quot;:507.6}"/>
</p:tagLst>
</file>

<file path=ppt/tags/tag81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2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3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4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5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6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7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8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89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90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91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92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93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94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ags/tag95.xml><?xml version="1.0" encoding="utf-8"?>
<p:tagLst xmlns:p="http://schemas.openxmlformats.org/presentationml/2006/main">
  <p:tag name="KSO_WM_DIAGRAM_VIRTUALLY_FRAME" val="{&quot;height&quot;:316.8,&quot;left&quot;:50.4,&quot;top&quot;:144,&quot;width&quot;:86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15442</Words>
  <Application>WPS 演示</Application>
  <PresentationFormat>On-screen Show (16:9)</PresentationFormat>
  <Paragraphs>391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DengXian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Affect-Driven Digital Literacy</dc:title>
  <dc:creator>Xin Shen &amp; Yufei Loong</dc:creator>
  <dc:subject>PptxGenJS Presentation</dc:subject>
  <cp:lastModifiedBy>雨珑</cp:lastModifiedBy>
  <cp:revision>2</cp:revision>
  <dcterms:created xsi:type="dcterms:W3CDTF">2026-07-08T13:26:00Z</dcterms:created>
  <dcterms:modified xsi:type="dcterms:W3CDTF">2026-07-08T15:59:46Z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CD88F4389D3944F1870675637F73F4E9_12</vt:lpwstr>
  </property>
</Properties>
</file>